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2926080" cy="36576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9B8A"/>
                </a:solidFill>
                <a:latin typeface="Inter"/>
              </a:defRPr>
            </a:pPr>
            <a:r>
              <a:t>ACADEMIC CA PROJECT  •  SEM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42B45"/>
                </a:solidFill>
                <a:latin typeface="Aptos"/>
              </a:defRPr>
            </a:pPr>
            <a:r>
              <a:t>GEOAGRI-AI</a:t>
            </a:r>
          </a:p>
          <a:p>
            <a:pPr>
              <a:defRPr sz="1700">
                <a:solidFill>
                  <a:srgbClr val="526579"/>
                </a:solidFill>
                <a:latin typeface="Inter"/>
              </a:defRPr>
            </a:pPr>
            <a:r>
              <a:t>An Integrated Geospatial AI Decision-Support Framework for Agricultural Intelligence &amp; Terrain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3328416" cy="246888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B8A"/>
                </a:solidFill>
                <a:latin typeface="Aptos"/>
              </a:defRPr>
            </a:pPr>
            <a:r>
              <a:t>🌱 CROP INTELLIGENCE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Model: XGBoost Multiclass Classifier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Scope: 26 agro-climatic features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Guardrails: FAO EcoCrop &amp; ICAR physiological thresholds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Target: Climate-resilient crop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3291840"/>
            <a:ext cx="3328416" cy="246888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342900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985D6"/>
                </a:solidFill>
                <a:latin typeface="Aptos"/>
              </a:defRPr>
            </a:pPr>
            <a:r>
              <a:t>🏔️ TERRAIN INTELLIGENCE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Model: XGBoost Regressor / Classifier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Scope: 8 terrain &amp; environmental features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Metrics: Slope, rainfall erosivity, soil type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Explainability: TreeSHAP local attributions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291840"/>
            <a:ext cx="3328416" cy="246888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3429000"/>
            <a:ext cx="296265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9A23B"/>
                </a:solidFill>
                <a:latin typeface="Aptos"/>
              </a:defRPr>
            </a:pPr>
            <a:r>
              <a:t>🛰️ VISION INTELLIGENCE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Model: YOLO11n-OBB (Oriented Boxes)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Scope: 5 archaeological &amp; terrain classes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Resolution: 640 × 640 aerial imagery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• Strategy: Damped class weighting for rare structures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One Landscape. Multiple Intelligence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6579"/>
                </a:solidFill>
                <a:latin typeface="Inter"/>
              </a:defRPr>
            </a:pPr>
            <a:r>
              <a:t>Agricultural landscapes operate under complex overlapping pedological, climatic, and structural constraints that fragmented single-purpose tools fail to address.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B8A"/>
                </a:solidFill>
                <a:latin typeface="Aptos"/>
              </a:defRPr>
            </a:pPr>
            <a:r>
              <a:t>1. Agronomic Uncertainty</a:t>
            </a:r>
          </a:p>
          <a:p>
            <a:pPr>
              <a:defRPr sz="1200" b="1">
                <a:solidFill>
                  <a:srgbClr val="142B45"/>
                </a:solidFill>
                <a:latin typeface="Inter"/>
              </a:defRPr>
            </a:pPr>
            <a:r>
              <a:t>Soil + Climate → Crop Selection</a:t>
            </a:r>
            <a:br/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Traditional farmers rely on static historical tables that ignore micro-climate variability.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Multi-nutrient interactions (N, P, K, pH) and rainfall variance require non-linear modeling.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Pure ML models risk recommending crops that violate fundamental biological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11680"/>
            <a:ext cx="3328416" cy="411480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19456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985D6"/>
                </a:solidFill>
                <a:latin typeface="Aptos"/>
              </a:defRPr>
            </a:pPr>
            <a:r>
              <a:t>2. Land Degradation</a:t>
            </a:r>
          </a:p>
          <a:p>
            <a:pPr>
              <a:defRPr sz="1200" b="1">
                <a:solidFill>
                  <a:srgbClr val="142B45"/>
                </a:solidFill>
                <a:latin typeface="Inter"/>
              </a:defRPr>
            </a:pPr>
            <a:r>
              <a:t>Terrain + Rainfall → Soil Erosion</a:t>
            </a:r>
            <a:br/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Steep slopes combined with intense monsoon rainfall accelerate topsoil loss and erosion.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Land-use planning requires continuous spatial risk assessment rather than regional averages.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Decisions must be explainable so land planners understand the underlying physical drivers.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011680"/>
            <a:ext cx="3328416" cy="411480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194560"/>
            <a:ext cx="29626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A23B"/>
                </a:solidFill>
                <a:latin typeface="Aptos"/>
              </a:defRPr>
            </a:pPr>
            <a:r>
              <a:t>3. Heritage &amp; Physical Risk</a:t>
            </a:r>
          </a:p>
          <a:p>
            <a:pPr>
              <a:defRPr sz="1200" b="1">
                <a:solidFill>
                  <a:srgbClr val="142B45"/>
                </a:solidFill>
                <a:latin typeface="Inter"/>
              </a:defRPr>
            </a:pPr>
            <a:r>
              <a:t>Aerial Imagery → Feature Detection</a:t>
            </a:r>
            <a:br/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Historic agrarian terrains contain ancient ruins, irrigation walls, and boundary structures.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Features lie at arbitrary rotational angles that traditional horizontal boxes fail to capture.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Unsupervised land development risks irreversible destruction of cultural heritage.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Integration, Interpretability and Generalisation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685800"/>
          </a:xfrm>
          <a:prstGeom prst="roundRect">
            <a:avLst/>
          </a:prstGeom>
          <a:solidFill>
            <a:srgbClr val="EEF7F6"/>
          </a:solidFill>
          <a:ln w="12700">
            <a:solidFill>
              <a:srgbClr val="00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9B8A"/>
                </a:solidFill>
                <a:latin typeface="Aptos"/>
              </a:defRPr>
            </a:pPr>
            <a:r>
              <a:t>CORE RESEARCH POSITION &amp; PROJECT CONTRIBUTION</a:t>
            </a:r>
          </a:p>
          <a:p>
            <a:pPr>
              <a:defRPr sz="1200">
                <a:solidFill>
                  <a:srgbClr val="142B45"/>
                </a:solidFill>
                <a:latin typeface="Inter"/>
              </a:defRPr>
            </a:pPr>
            <a:r>
              <a:t>The contribution of GeoAgri-AI is system-level integration and rigorous empirical evaluation across heterogeneous modalities — not the speculative invention of a new ML algorithm.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28416" cy="3749039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962656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B45"/>
                </a:solidFill>
                <a:latin typeface="Aptos"/>
              </a:defRPr>
            </a:pPr>
            <a:r>
              <a:t>GAP 1: Fragmented Systems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Existing agricultural tools treat crop prediction, terrain erosion, and aerial surveys as isolated silos.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No unified decision interface links subsurface soil chemistry directly to surface aerial imagery.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GeoAgri-AI Resolution: A single multi-tier platform harmonizing 26D agronomy, 8D terrain risk, and computer vision.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194560"/>
            <a:ext cx="3328416" cy="3749039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2377440"/>
            <a:ext cx="2962656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B45"/>
                </a:solidFill>
                <a:latin typeface="Aptos"/>
              </a:defRPr>
            </a:pPr>
            <a:r>
              <a:t>GAP 2: Interpretability Barrier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Deep neural networks and ensemble trees act as 'black boxes', causing low user trust.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Pure ML models make high-confidence recommendations that violate physiological laws.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GeoAgri-AI Resolution: Exact TreeSHAP feature attribution coupled with ICAR/FAO physiological gating.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194560"/>
            <a:ext cx="3328416" cy="3749039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377440"/>
            <a:ext cx="2962656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B45"/>
                </a:solidFill>
                <a:latin typeface="Aptos"/>
              </a:defRPr>
            </a:pPr>
            <a:r>
              <a:t>GAP 3: Generalisation Shift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Aerial vision models tuned on one archaeological site fail completely on unseen geographies.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Background lithology shortcuts cause detectors to memorize local rocks rather than architecture.</a:t>
            </a:r>
          </a:p>
          <a:p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GeoAgri-AI Resolution: Controlled empirical evaluation benchmarking domain augmentation and damped class weighting.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Six Logical Layers Connect Data to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658368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10180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B45"/>
                </a:solidFill>
                <a:latin typeface="Aptos"/>
              </a:defRPr>
            </a:pPr>
            <a:r>
              <a:t>LAYER 1: DATA ACQUISITION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ISRIC SoilGrids (0-30cm N,P,K,pH)  •  Open-Meteo Climatology &amp; Forecasts  •  SRTM 30m Elevation  •  Aerial Survey Imagery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728655" cy="658368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80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B45"/>
                </a:solidFill>
                <a:latin typeface="Aptos"/>
              </a:defRPr>
            </a:pPr>
            <a:r>
              <a:t>LAYER 2: DATA PROCESSING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Multivariate Cleaning  •  Agronomic 26D Feature Engineering  •  OBB Coordinate Normalization  •  Spatial Indexing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728655" cy="658368"/>
          </a:xfrm>
          <a:prstGeom prst="roundRect">
            <a:avLst/>
          </a:prstGeom>
          <a:solidFill>
            <a:srgbClr val="EEF7F6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0672"/>
            <a:ext cx="10180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B8A"/>
                </a:solidFill>
                <a:latin typeface="Aptos"/>
              </a:defRPr>
            </a:pPr>
            <a:r>
              <a:t>LAYER 3: ML INTELLIGENCE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Crop: XGBoost (120 Trees)  •  Erosion: XGBoost (300 Trees)  •  Vision: YOLO11n-OBB (640x640, 196 Layers)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658368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13632"/>
            <a:ext cx="10180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B45"/>
                </a:solidFill>
                <a:latin typeface="Aptos"/>
              </a:defRPr>
            </a:pPr>
            <a:r>
              <a:t>LAYER 4: BACKEND / API TIER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FastAPI Asynchronous Gateway  •  Python Inference Bridge  •  JSON Protocol  •  Structured Error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8655" cy="658368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36592"/>
            <a:ext cx="10180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B45"/>
                </a:solidFill>
                <a:latin typeface="Aptos"/>
              </a:defRPr>
            </a:pPr>
            <a:r>
              <a:t>LAYER 5: VISUALISATION ENGINE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OpenCV OBB Polygon Overlays  •  Gaussian Feature Density Heatmap  •  Leaflet Geospatial Halos  •  TreeSHAP Plots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658368"/>
          </a:xfrm>
          <a:prstGeom prst="roundRect">
            <a:avLst/>
          </a:prstGeom>
          <a:solidFill>
            <a:srgbClr val="EAF2FA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559552"/>
            <a:ext cx="1018001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985D6"/>
                </a:solidFill>
                <a:latin typeface="Aptos"/>
              </a:defRPr>
            </a:pPr>
            <a:r>
              <a:t>LAYER 6: USER INTERFACE (UI)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Next.js 14 App Router  •  TypeScript  •  Tailwind CSS  •  Interactive Map Navigation  •  Layer Toggles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Three Engines. Three Prediction Tasks.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B8A"/>
                </a:solidFill>
                <a:latin typeface="Aptos"/>
              </a:defRPr>
            </a:pPr>
            <a:r>
              <a:t>CROP INTELLIGENCE</a:t>
            </a:r>
          </a:p>
          <a:p>
            <a:pPr>
              <a:defRPr sz="1100" b="1">
                <a:solidFill>
                  <a:srgbClr val="526579"/>
                </a:solidFill>
                <a:latin typeface="Inter"/>
              </a:defRPr>
            </a:pPr>
            <a:r>
              <a:t>Task: Multiclass Classification</a:t>
            </a:r>
            <a:br/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Algorithm: XGBoost Classifier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Features: 26 Engineered Agro-Climatic Features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Inputs: N, P, K, pH, rainfall, temp, slope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Complexity: 120 Boosting Trees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Gating: FAO EcoCrop &amp; ICAR Biophysical Rules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Output: Softmax Crop Suitability Slate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Evaluation: 546 Chronological Holdout Queries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985D6"/>
                </a:solidFill>
                <a:latin typeface="Aptos"/>
              </a:defRPr>
            </a:pPr>
            <a:r>
              <a:t>TERRAIN EROSION</a:t>
            </a:r>
          </a:p>
          <a:p>
            <a:pPr>
              <a:defRPr sz="1100" b="1">
                <a:solidFill>
                  <a:srgbClr val="526579"/>
                </a:solidFill>
                <a:latin typeface="Inter"/>
              </a:defRPr>
            </a:pPr>
            <a:r>
              <a:t>Task: Probability Regression &amp; Risk Class</a:t>
            </a:r>
            <a:br/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Algorithm: XGBoost Classifier / Regressor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Features: 8 Terrain &amp; Environmental Features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Inputs: Slope, rainfall, soil, elevation, features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Complexity: 300 Trees (Max Depth: 6)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XAI Layer: Exact TreeSHAP Shapley Values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Output: Risk Probability (0.0 to 1.0) &amp; Class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Risk Classes: Low (&lt;30%), Mod (30-69%), High (≥70%)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9A23B"/>
                </a:solidFill>
                <a:latin typeface="Aptos"/>
              </a:defRPr>
            </a:pPr>
            <a:r>
              <a:t>AERIAL COMPUTER VISION</a:t>
            </a:r>
          </a:p>
          <a:p>
            <a:pPr>
              <a:defRPr sz="1100" b="1">
                <a:solidFill>
                  <a:srgbClr val="526579"/>
                </a:solidFill>
                <a:latin typeface="Inter"/>
              </a:defRPr>
            </a:pPr>
            <a:r>
              <a:t>Task: Oriented Object Detection (OBB)</a:t>
            </a:r>
            <a:br/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Algorithm: YOLO11n-OBB (Ultralytics)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Layers: 196 Layers (344 PyTorch Modules)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Parameters: 2,662,482 Parameters (2.66M)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Input Size: 640 × 640 Aerial RGB Image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Complexity: 6.7 GFLOPs (10.2 ms Latency)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Loss Tuning: Damped Inverse-Frequency Weights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Output: Rotated 4-pt Bounding Polygons &amp; Conf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740 Aerial Images. 18,458 Annotations.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1188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B8A"/>
                </a:solidFill>
                <a:latin typeface="Aptos"/>
              </a:defRPr>
            </a:pPr>
            <a:r>
              <a:t>740</a:t>
            </a:r>
          </a:p>
          <a:p>
            <a:pPr algn="ctr">
              <a:defRPr sz="1000" b="1">
                <a:solidFill>
                  <a:srgbClr val="526579"/>
                </a:solidFill>
                <a:latin typeface="Inter"/>
              </a:defRPr>
            </a:pPr>
            <a:r>
              <a:t>TOTAL AERIAL TILES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371600"/>
            <a:ext cx="2514600" cy="1188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65576" y="141732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985D6"/>
                </a:solidFill>
                <a:latin typeface="Aptos"/>
              </a:defRPr>
            </a:pPr>
            <a:r>
              <a:t>18,458</a:t>
            </a:r>
          </a:p>
          <a:p>
            <a:pPr algn="ctr">
              <a:defRPr sz="1000" b="1">
                <a:solidFill>
                  <a:srgbClr val="526579"/>
                </a:solidFill>
                <a:latin typeface="Inter"/>
              </a:defRPr>
            </a:pPr>
            <a:r>
              <a:t>ORIENTED BOUNDING BOXES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71600"/>
            <a:ext cx="2514600" cy="1188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41732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A23B"/>
                </a:solidFill>
                <a:latin typeface="Aptos"/>
              </a:defRPr>
            </a:pPr>
            <a:r>
              <a:t>5</a:t>
            </a:r>
          </a:p>
          <a:p>
            <a:pPr algn="ctr">
              <a:defRPr sz="1000" b="1">
                <a:solidFill>
                  <a:srgbClr val="526579"/>
                </a:solidFill>
                <a:latin typeface="Inter"/>
              </a:defRPr>
            </a:pPr>
            <a:r>
              <a:t>OBJECT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371600"/>
            <a:ext cx="2514600" cy="1188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8" y="141732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2B45"/>
                </a:solidFill>
                <a:latin typeface="Aptos"/>
              </a:defRPr>
            </a:pPr>
            <a:r>
              <a:t>640 × 640</a:t>
            </a:r>
          </a:p>
          <a:p>
            <a:pPr algn="ctr">
              <a:defRPr sz="1000" b="1">
                <a:solidFill>
                  <a:srgbClr val="526579"/>
                </a:solidFill>
                <a:latin typeface="Inter"/>
              </a:defRPr>
            </a:pPr>
            <a:r>
              <a:t>IMAGE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212080" cy="32918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B45"/>
                </a:solidFill>
                <a:latin typeface="Aptos"/>
              </a:defRPr>
            </a:pPr>
            <a:r>
              <a:t>DATASET SPLITS &amp; SCENE DISTRIBUTION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Training Set (69.5%)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514 images across 88 unique aerial scenes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Validation Set (14.7%)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109 images across 19 unique aerial scenes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Held-Out Test Set (15.8%)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117 images across 18 unique aerial scenes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2834640"/>
            <a:ext cx="5212080" cy="32918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297180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B45"/>
                </a:solidFill>
                <a:latin typeface="Aptos"/>
              </a:defRPr>
            </a:pPr>
            <a:r>
              <a:t>CLASS DISTRIBUTION &amp; SEVERE IMBALANCE</a:t>
            </a:r>
          </a:p>
          <a:p>
            <a:br/>
            <a:pPr>
              <a:defRPr sz="1100" b="1">
                <a:solidFill>
                  <a:srgbClr val="3985D6"/>
                </a:solidFill>
                <a:latin typeface="Inter"/>
              </a:defRPr>
            </a:pPr>
            <a:r>
              <a:t>• Boulders &amp; Vegetation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Abundant natural features spanning &gt;80% of annotations</a:t>
            </a:r>
          </a:p>
          <a:p>
            <a:br/>
            <a:pPr>
              <a:defRPr sz="1100" b="1">
                <a:solidFill>
                  <a:srgbClr val="3985D6"/>
                </a:solidFill>
                <a:latin typeface="Inter"/>
              </a:defRPr>
            </a:pPr>
            <a:r>
              <a:t>• Ruins &amp; Others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Moderate representation across historic site zones</a:t>
            </a:r>
          </a:p>
          <a:p>
            <a:br/>
            <a:pPr>
              <a:defRPr sz="1100" b="1">
                <a:solidFill>
                  <a:srgbClr val="D95757"/>
                </a:solidFill>
                <a:latin typeface="Inter"/>
              </a:defRPr>
            </a:pPr>
            <a:r>
              <a:t>• Structures (Critical Minority)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Severely rare architectural class (&lt;3% of labels). Models trained without weighting achieved 0.00% recall on held-out test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YOLO11 OBB Experimental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Training Strategy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mAP@50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42B45"/>
                          </a:solidFill>
                          <a:latin typeface="Aptos"/>
                        </a:defRPr>
                      </a:pPr>
                      <a:r>
                        <a:t>Structures Recall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EXP-B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Geometry Refitting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9B8A"/>
                          </a:solidFill>
                          <a:latin typeface="Inter"/>
                        </a:defRPr>
                      </a:pPr>
                      <a:r>
                        <a:t>60.25%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37.31%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43.06%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63.89%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EXP-C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Domain Augmentation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57.22%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41.40%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9B8A"/>
                          </a:solidFill>
                          <a:latin typeface="Inter"/>
                        </a:defRPr>
                      </a:pPr>
                      <a:r>
                        <a:t>44.97% *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72.22%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EXP-D</a:t>
                      </a:r>
                    </a:p>
                  </a:txBody>
                  <a:tcPr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Damped Class Weights</a:t>
                      </a:r>
                    </a:p>
                  </a:txBody>
                  <a:tcPr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37.20%</a:t>
                      </a:r>
                    </a:p>
                  </a:txBody>
                  <a:tcPr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9B8A"/>
                          </a:solidFill>
                          <a:latin typeface="Inter"/>
                        </a:defRPr>
                      </a:pPr>
                      <a:r>
                        <a:t>44.08% *</a:t>
                      </a:r>
                    </a:p>
                  </a:txBody>
                  <a:tcPr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41.50%</a:t>
                      </a:r>
                    </a:p>
                  </a:txBody>
                  <a:tcPr>
                    <a:solidFill>
                      <a:srgbClr val="F0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9B8A"/>
                          </a:solidFill>
                          <a:latin typeface="Inter"/>
                        </a:defRPr>
                      </a:pPr>
                      <a:r>
                        <a:t>77.11% *</a:t>
                      </a:r>
                    </a:p>
                  </a:txBody>
                  <a:tcPr>
                    <a:solidFill>
                      <a:srgbClr val="F0F9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EXP-E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Capacity Scaling (YOLO11s)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46.80%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37.17%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37.97%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42B45"/>
                          </a:solidFill>
                          <a:latin typeface="Inter"/>
                        </a:defRPr>
                      </a:pPr>
                      <a:r>
                        <a:t>55.56%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389120"/>
            <a:ext cx="3383280" cy="16459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B45"/>
                </a:solidFill>
                <a:latin typeface="Aptos"/>
              </a:defRPr>
            </a:pPr>
            <a:r>
              <a:t>EXP-B: Precision Peak (60.25%)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Rigorous polygon geometry refitting eliminated flipped normals and out-of-bounds annotations, producing the highest detection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4389120"/>
            <a:ext cx="3383280" cy="16459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4480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985D6"/>
                </a:solidFill>
                <a:latin typeface="Aptos"/>
              </a:defRPr>
            </a:pPr>
            <a:r>
              <a:t>EXP-C: Overall mAP Peak (44.97%)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HSV photometric jittering and 360-degree rotation invariance expanded domain coverage, achieving the highest overall mAP@50 (44.97%).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4389120"/>
            <a:ext cx="3383280" cy="16459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4480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B8A"/>
                </a:solidFill>
                <a:latin typeface="Aptos"/>
              </a:defRPr>
            </a:pPr>
            <a:r>
              <a:t>EXP-D: Minority Recall Leader (77.11%)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Damped class weighting (structures penalty = 3.88x) maximized rare structure detection to 77.11% recall with 44.08% overall recall.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Validation Performance Did Not Transfer to Unseen 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365760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5757"/>
                </a:solidFill>
                <a:latin typeface="Aptos"/>
              </a:defRPr>
            </a:pPr>
            <a:r>
              <a:t>STRUCTURES RECALL TRANSFER FAILURE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EXP-C (Domain Augmentation)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• Validation: 72.22%</a:t>
            </a:r>
          </a:p>
          <a:p>
            <a:pPr>
              <a:defRPr sz="1050" b="1">
                <a:solidFill>
                  <a:srgbClr val="D95757"/>
                </a:solidFill>
                <a:latin typeface="Inter"/>
              </a:defRPr>
            </a:pPr>
            <a:r>
              <a:t>  • Test Split: 0.00% (Complete Blackout)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EXP-D (Class Weighted)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• Validation: 77.11%</a:t>
            </a:r>
          </a:p>
          <a:p>
            <a:pPr>
              <a:defRPr sz="1050" b="1">
                <a:solidFill>
                  <a:srgbClr val="009B8A"/>
                </a:solidFill>
                <a:latin typeface="Inter"/>
              </a:defRPr>
            </a:pPr>
            <a:r>
              <a:t>  • Test Split: 7.16% (Broke 0% Barrier)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371600"/>
            <a:ext cx="5120640" cy="365760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5544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B45"/>
                </a:solidFill>
                <a:latin typeface="Aptos"/>
              </a:defRPr>
            </a:pPr>
            <a:r>
              <a:t>EXP-D HELD-OUT TEST AUDIT &amp; ROOT CAUSE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Test Precision: 20.24%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Test Recall: 19.94%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Test mAP@50: 12.89%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Test mAP@50-95: 5.91%</a:t>
            </a:r>
          </a:p>
          <a:p>
            <a:br/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Root Cause: Geographic Lithology Confounding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In the existing dataset, boulders are 100% concentrated in Hampi granitic terrain, while structures reside in Nalanda/Pattadakal. Detectors learned local geological background shortcuts rather than transferable structural geometries.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DF6ED"/>
          </a:solidFill>
          <a:ln w="1270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9A23B"/>
                </a:solidFill>
                <a:latin typeface="Aptos"/>
              </a:defRPr>
            </a:pPr>
            <a:r>
              <a:t>METHODOLOGICAL DISCLOSURE</a:t>
            </a:r>
          </a:p>
          <a:p>
            <a:pPr>
              <a:defRPr sz="1100">
                <a:solidFill>
                  <a:srgbClr val="142B45"/>
                </a:solidFill>
                <a:latin typeface="Inter"/>
              </a:defRPr>
            </a:pPr>
            <a:r>
              <a:t>The test partition was consulted during earlier baseline audits. It serves here as an internal sanity check confirming cross-site degradation, not as an untouched, pristine external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Why YOLO11n-OBB?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3474720"/>
          </a:xfrm>
          <a:prstGeom prst="roundRect">
            <a:avLst/>
          </a:prstGeom>
          <a:solidFill>
            <a:srgbClr val="F0F9F6"/>
          </a:solidFill>
          <a:ln w="15240">
            <a:solidFill>
              <a:srgbClr val="00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B8A"/>
                </a:solidFill>
                <a:latin typeface="Aptos"/>
              </a:defRPr>
            </a:pPr>
            <a:r>
              <a:t>YOLO11n-OBB (EXP-D)</a:t>
            </a:r>
          </a:p>
          <a:p>
            <a:pPr>
              <a:defRPr sz="1100" b="1">
                <a:solidFill>
                  <a:srgbClr val="526579"/>
                </a:solidFill>
                <a:latin typeface="Inter"/>
              </a:defRPr>
            </a:pPr>
            <a:r>
              <a:t>Experimental Leader</a:t>
            </a:r>
            <a:br/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Parameters: 2,662,482 (2.66M)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Compute: 6.7 GFLOPs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Latency: 10.2 ms / image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Layers: 196 layers (344 modules)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Structures Recall: 77.11% (Validation)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Decision: Selected as Research Leader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3474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5544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5757"/>
                </a:solidFill>
                <a:latin typeface="Aptos"/>
              </a:defRPr>
            </a:pPr>
            <a:r>
              <a:t>YOLO11s-OBB (EXP-E)</a:t>
            </a:r>
          </a:p>
          <a:p>
            <a:pPr>
              <a:defRPr sz="1100" b="1">
                <a:solidFill>
                  <a:srgbClr val="526579"/>
                </a:solidFill>
                <a:latin typeface="Inter"/>
              </a:defRPr>
            </a:pPr>
            <a:r>
              <a:t>Capacity Scaling Candidate</a:t>
            </a:r>
            <a:br/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Parameters: 9,715,906 (9.72M - 3.6x)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Compute: 22.5 GFLOPs (3.4x)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Latency: 13.8 ms / image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Layers: 196 layers (344 modules)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Structures Recall: 55.56% (Overfit Drop)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Decision: Rejected (Overfit on 88 scenes)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371600"/>
            <a:ext cx="3328416" cy="3474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5544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985D6"/>
                </a:solidFill>
                <a:latin typeface="Aptos"/>
              </a:defRPr>
            </a:pPr>
            <a:r>
              <a:t>YOLOv8s Baseline</a:t>
            </a:r>
          </a:p>
          <a:p>
            <a:pPr>
              <a:defRPr sz="1100" b="1">
                <a:solidFill>
                  <a:srgbClr val="526579"/>
                </a:solidFill>
                <a:latin typeface="Inter"/>
              </a:defRPr>
            </a:pPr>
            <a:r>
              <a:t>Production Baseline</a:t>
            </a:r>
            <a:br/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Parameters: 11,137,535 (11.14M)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Compute: 28.7 GFLOPs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Latency: 16.4 ms / image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Layers: 129 layers (225 modules)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Checkpoint: runs/detect/yolov8s_archaeology2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• Decision: Retained in Production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B45"/>
                </a:solidFill>
                <a:latin typeface="Aptos"/>
              </a:defRPr>
            </a:pPr>
            <a:r>
              <a:t>PRODUCTION ISOLATION POLICY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EXP-D is recognized as the experimental research leader due to its superior minority-class recall (77.11%) and low computational footprint (6.7 GFLOPs). However, EXP-D is strictly quarantined in research and was NOT promoted to production in config/models_registry.yaml because cross-site generalization remains unproven.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Transparent Visual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32918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B8A"/>
                </a:solidFill>
                <a:latin typeface="Aptos"/>
              </a:defRPr>
            </a:pPr>
            <a:r>
              <a:t>1. OBB POLYGON FOOTPRINTS</a:t>
            </a:r>
          </a:p>
          <a:p>
            <a:br/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Semi-transparent colored polygons tightly enclosing rotated ruins and structures with class labels and confidence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371600"/>
            <a:ext cx="2514600" cy="32918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2736" y="155448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985D6"/>
                </a:solidFill>
                <a:latin typeface="Aptos"/>
              </a:defRPr>
            </a:pPr>
            <a:r>
              <a:t>2. FEATURE DENSITY HEATMAP</a:t>
            </a:r>
          </a:p>
          <a:p>
            <a:br/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Gaussian kernel density overlay centered at detected object centroids, exposing spatial clusters of heritage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71600"/>
            <a:ext cx="2514600" cy="32918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55448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A23B"/>
                </a:solidFill>
                <a:latin typeface="Aptos"/>
              </a:defRPr>
            </a:pPr>
            <a:r>
              <a:t>3. EROSION RISK HEATMAP</a:t>
            </a:r>
          </a:p>
          <a:p>
            <a:br/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Multi-tier radial heat halos on the Leaflet GIS map dynamically colored by erosion probability (&lt;30% Green, 30-69% Amber, ≥70% Red).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371600"/>
            <a:ext cx="2514600" cy="32918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1554480"/>
            <a:ext cx="2240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B45"/>
                </a:solidFill>
                <a:latin typeface="Aptos"/>
              </a:defRPr>
            </a:pPr>
            <a:r>
              <a:t>4. INTERACTIVE LAYER TOGGLES</a:t>
            </a:r>
          </a:p>
          <a:p>
            <a:br/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Independent UI controls enabling users to toggle Heatmap Halos, Point Markers, and Bounding Overlays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28655" cy="1188720"/>
          </a:xfrm>
          <a:prstGeom prst="roundRect">
            <a:avLst/>
          </a:prstGeom>
          <a:solidFill>
            <a:srgbClr val="FEF3F2"/>
          </a:solidFill>
          <a:ln w="19050">
            <a:solidFill>
              <a:srgbClr val="D9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5757"/>
                </a:solidFill>
                <a:latin typeface="Aptos"/>
              </a:defRPr>
            </a:pPr>
            <a:r>
              <a:t>ACADEMIC VISUALIZATION INTEGRITY MANDATE</a:t>
            </a:r>
          </a:p>
          <a:p>
            <a:pPr>
              <a:defRPr sz="1050">
                <a:solidFill>
                  <a:srgbClr val="142B45"/>
                </a:solidFill>
                <a:latin typeface="Inter"/>
              </a:defRPr>
            </a:pPr>
            <a:r>
              <a:t>"Pixel-level segmentation is currently unavailable. The active computer vision model supports oriented object detection."</a:t>
            </a:r>
            <a:br/>
            <a:br/>
            <a:r>
              <a:t>The dataset contains rotated bounding polygons, NOT pixel-level semantic masks. The GeoAgri-AI dashboard explicitly disclaims this and renders genuine OBB bounding footprints rather than fabricating fake semantic segmentation masks.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Full-Stack Integration and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B45"/>
                </a:solidFill>
                <a:latin typeface="Aptos"/>
              </a:defRPr>
            </a:pPr>
            <a:r>
              <a:t>MODERN DECOUPLED STACK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Frontend Tier: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Next.js 14, React 18, TypeScript, Tailwind CSS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Backend API Tier: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FastAPI, Uvicorn, Python Prediction Bridge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Machine Learning: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XGBoost, Ultralytics YOLO, PyTorch 2.6 CUDA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Computer Vision: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OpenCV (cv2) polygon drawing, Gaussian blur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Geospatial GIS: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Leaflet, React-Leaflet, Esri World Imagery</a:t>
            </a:r>
          </a:p>
          <a:p>
            <a:br/>
            <a:pPr>
              <a:defRPr sz="1100" b="1">
                <a:solidFill>
                  <a:srgbClr val="009B8A"/>
                </a:solidFill>
                <a:latin typeface="Inter"/>
              </a:defRPr>
            </a:pPr>
            <a:r>
              <a:t>• Explainability:</a:t>
            </a:r>
          </a:p>
          <a:p>
            <a:pPr>
              <a:defRPr sz="1050">
                <a:solidFill>
                  <a:srgbClr val="526579"/>
                </a:solidFill>
                <a:latin typeface="Inter"/>
              </a:defRPr>
            </a:pPr>
            <a:r>
              <a:t>  TreeSHAP game-theory feature attributions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371600"/>
            <a:ext cx="5120640" cy="46634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B45"/>
                </a:solidFill>
                <a:latin typeface="Aptos"/>
              </a:defRPr>
            </a:pPr>
            <a:r>
              <a:t>REPORTED SOFTWARE TEST AUDIT</a:t>
            </a:r>
          </a:p>
          <a:p>
            <a:br/>
            <a:pPr>
              <a:defRPr sz="1100" b="1">
                <a:solidFill>
                  <a:srgbClr val="239B70"/>
                </a:solidFill>
                <a:latin typeface="Inter"/>
              </a:defRPr>
            </a:pPr>
            <a:r>
              <a:t>• API Endpoint Suite — 4 / 4 PASSED (100%)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Health, debug/model, crop recommendation, and point prediction endpoints verified in 61.11s.</a:t>
            </a:r>
          </a:p>
          <a:p>
            <a:br/>
            <a:pPr>
              <a:defRPr sz="1100" b="1">
                <a:solidFill>
                  <a:srgbClr val="239B70"/>
                </a:solidFill>
                <a:latin typeface="Inter"/>
              </a:defRPr>
            </a:pPr>
            <a:r>
              <a:t>• YOLO OBB Hardening Suite — 8 / 8 PASSED (100%)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Rotated polygon bounding geometries, regression safety, and zero-box handling verified in 107.15s.</a:t>
            </a:r>
          </a:p>
          <a:p>
            <a:br/>
            <a:pPr>
              <a:defRPr sz="1100" b="1">
                <a:solidFill>
                  <a:srgbClr val="239B70"/>
                </a:solidFill>
                <a:latin typeface="Inter"/>
              </a:defRPr>
            </a:pPr>
            <a:r>
              <a:t>• Frontend ESLint Verification — 0 ERRORS (PASS)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Strict Next.js 14 and React hooks static analysis passed clean.</a:t>
            </a:r>
          </a:p>
          <a:p>
            <a:br/>
            <a:pPr>
              <a:defRPr sz="1100" b="1">
                <a:solidFill>
                  <a:srgbClr val="239B70"/>
                </a:solidFill>
                <a:latin typeface="Inter"/>
              </a:defRPr>
            </a:pPr>
            <a:r>
              <a:t>• Production Next.js Build — 4 / 4 ROUTES COMPILED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All static and dynamic routes (/, /_not-found, /api/predict) successfully bundled.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Critical Reflection and Future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5757"/>
                </a:solidFill>
                <a:latin typeface="Aptos"/>
              </a:defRPr>
            </a:pPr>
            <a:r>
              <a:t>CURRENT SYSTEM LIMITATIONS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Low Cross-Site Generalisation: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Detectors struggle when tested on completely unseen archaeological sites due to background rock shortcuts.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Extreme Class Imbalance: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Structures account for &lt;3% of aerial annotations, causing high sensitivity to hyperparameter shifts.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Evaluation Integrity Scope: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The held-out test split was examined during baseline development; it serves as a sanity check, not a pristine external benchmark.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No Dense Pixel Masks: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The dataset is annotated with bounding polygons, not genuine semantic masks.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Crop &amp; Erosion Formal Reports: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Formal standalone precision/recall reports require external field agronomic trials.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371600"/>
            <a:ext cx="5120640" cy="466344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B8A"/>
                </a:solidFill>
                <a:latin typeface="Aptos"/>
              </a:defRPr>
            </a:pPr>
            <a:r>
              <a:t>FUTURE RESEARCH ROADMAP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AGB-120 Multi-Site Expansion: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Proposed 120-scene field collection across 6 new Indian archaeological sites to decouple structures from geology.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Untouched External Benchmark: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Strictly blind external test partition to objectively verify out-of-domain transfer.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Targeted Minority Re-Sampling: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Oversampling and tile-level mosaic augmentation focused strictly on structural features.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Dense Pixel Segmentation: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Curating polygon masks for U-Net / DeepLabV3+ pixel-level masonry boundary segmentation.</a:t>
            </a:r>
          </a:p>
          <a:p>
            <a:br/>
            <a:pPr>
              <a:defRPr sz="1100" b="1">
                <a:solidFill>
                  <a:srgbClr val="142B45"/>
                </a:solidFill>
                <a:latin typeface="Inter"/>
              </a:defRPr>
            </a:pPr>
            <a:r>
              <a:t>• Multi-Site Agronomic Auditing:</a:t>
            </a:r>
          </a:p>
          <a:p>
            <a:pPr>
              <a:defRPr sz="1000">
                <a:solidFill>
                  <a:srgbClr val="526579"/>
                </a:solidFill>
                <a:latin typeface="Inter"/>
              </a:defRPr>
            </a:pPr>
            <a:r>
              <a:t>  Field sensor calibration across ICAR regional dryland research stations.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An Integrated Prototype. A Measurable Research Lesson.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3474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B8A"/>
                </a:solidFill>
                <a:latin typeface="Aptos"/>
              </a:defRPr>
            </a:pPr>
            <a:r>
              <a:t>1. Engineering Integration</a:t>
            </a:r>
          </a:p>
          <a:p>
            <a:br/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Successfully integrated 26D crop intelligence, 8D terrain erosion risk, and aerial OBB detection into a unified platform.</a:t>
            </a:r>
          </a:p>
          <a:p>
            <a:br/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Connected Next.js 14 frontend with asynchronous FastAPI and in-memory PyTorch / XGBoost inference engines.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3474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5544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985D6"/>
                </a:solidFill>
                <a:latin typeface="Aptos"/>
              </a:defRPr>
            </a:pPr>
            <a:r>
              <a:t>2. Empirical CV Trajectory</a:t>
            </a:r>
          </a:p>
          <a:p>
            <a:br/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Executed 4 controlled experiments (EXP-B through EXP-E) evaluating geometry refitting, domain augmentation, and class weighting.</a:t>
            </a:r>
          </a:p>
          <a:p>
            <a:br/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Achieved 77.11% validation recall for rare structures via damped loss weighting ($w = 3.88x$) with 6.7 GFLOPs efficiency.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371600"/>
            <a:ext cx="3328416" cy="3474720"/>
          </a:xfrm>
          <a:prstGeom prst="roundRect">
            <a:avLst/>
          </a:prstGeom>
          <a:solidFill>
            <a:srgbClr val="F1F6F9"/>
          </a:solidFill>
          <a:ln w="1524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5544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9A23B"/>
                </a:solidFill>
                <a:latin typeface="Aptos"/>
              </a:defRPr>
            </a:pPr>
            <a:r>
              <a:t>3. Core Research Insight</a:t>
            </a:r>
          </a:p>
          <a:p>
            <a:br/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Demonstrates that improving validation recall on a single-site dataset does NOT guarantee out-of-domain cross-site generalisation.</a:t>
            </a:r>
          </a:p>
          <a:p>
            <a:br/>
            <a:pPr>
              <a:defRPr sz="1100">
                <a:solidFill>
                  <a:srgbClr val="526579"/>
                </a:solidFill>
                <a:latin typeface="Inter"/>
              </a:defRPr>
            </a:pPr>
            <a:r>
              <a:t>• Established that capacity scaling (EXP-E) overfits on limited aerial scenes, confirming measured evidence over speculative scaling.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EEF7F6"/>
          </a:solidFill>
          <a:ln w="19050">
            <a:solidFill>
              <a:srgbClr val="00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B8A"/>
                </a:solidFill>
                <a:latin typeface="Aptos"/>
              </a:defRPr>
            </a:pPr>
            <a:r>
              <a:t>THANK YOU — QUESTIONS &amp; DEFENSE DISCUSSION</a:t>
            </a:r>
          </a:p>
          <a:p>
            <a:pPr algn="ctr">
              <a:defRPr sz="1100">
                <a:solidFill>
                  <a:srgbClr val="526579"/>
                </a:solidFill>
                <a:latin typeface="Inter"/>
              </a:defRPr>
            </a:pPr>
            <a:r>
              <a:t>Department of Computer Science &amp; Engineering  •  CSE 471: Deep Learning for 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B8A"/>
                </a:solidFill>
                <a:latin typeface="Inter"/>
              </a:defRPr>
            </a:pPr>
            <a:r>
              <a:t>CSE 471 — DEEP LEARNING FOR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B45"/>
                </a:solidFill>
                <a:latin typeface="Aptos"/>
              </a:defRPr>
            </a:pPr>
            <a:r>
              <a:t>Selected Technical and Research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B8A"/>
                </a:solidFill>
                <a:latin typeface="Aptos"/>
              </a:defRPr>
            </a:pPr>
            <a:r>
              <a:t>1. Archaeological Object Detection</a:t>
            </a:r>
          </a:p>
          <a:p>
            <a:pPr>
              <a:defRPr sz="950">
                <a:solidFill>
                  <a:srgbClr val="526579"/>
                </a:solidFill>
                <a:latin typeface="Inter"/>
              </a:defRPr>
            </a:pPr>
            <a:r>
              <a:t>Olivier, M., &amp; Verschoof-van der Vaart, W. B. (2021). Detecting Archaeological Features in Airborne Laser Scanning Data Using Automated Deep Learning. Journal of Computer Applications in Archaeology, 4(1), 1-18. DOI: 10.5334/jcaa.78</a:t>
            </a:r>
            <a:br/>
          </a:p>
          <a:p>
            <a:pPr>
              <a:defRPr sz="1100" b="1">
                <a:solidFill>
                  <a:srgbClr val="009B8A"/>
                </a:solidFill>
                <a:latin typeface="Aptos"/>
              </a:defRPr>
            </a:pPr>
            <a:r>
              <a:t>2. Real-Time Object Detection Framework</a:t>
            </a:r>
          </a:p>
          <a:p>
            <a:pPr>
              <a:defRPr sz="950">
                <a:solidFill>
                  <a:srgbClr val="526579"/>
                </a:solidFill>
                <a:latin typeface="Inter"/>
              </a:defRPr>
            </a:pPr>
            <a:r>
              <a:t>Jocher, G., Chaurasia, A., &amp; Qiu, J. (2024). YOLO by Ultralytics (Version 11.0.0). Ultralytics Inc. Available at: https://github.com/ultralytics/ultralytics</a:t>
            </a:r>
            <a:br/>
          </a:p>
          <a:p>
            <a:pPr>
              <a:defRPr sz="1100" b="1">
                <a:solidFill>
                  <a:srgbClr val="009B8A"/>
                </a:solidFill>
                <a:latin typeface="Aptos"/>
              </a:defRPr>
            </a:pPr>
            <a:r>
              <a:t>3. Gradient Boosted Tree Architecture</a:t>
            </a:r>
          </a:p>
          <a:p>
            <a:pPr>
              <a:defRPr sz="950">
                <a:solidFill>
                  <a:srgbClr val="526579"/>
                </a:solidFill>
                <a:latin typeface="Inter"/>
              </a:defRPr>
            </a:pPr>
            <a:r>
              <a:t>Chen, T., &amp; Guestrin, C. (2016). XGBoost: A Scalable Tree Boosting System. In Proceedings of the 22nd ACM SIGKDD International Conference on Knowledge Discovery and Data Mining (pp. 785-794). ACM.</a:t>
            </a:r>
            <a:br/>
          </a:p>
          <a:p>
            <a:pPr>
              <a:defRPr sz="1100" b="1">
                <a:solidFill>
                  <a:srgbClr val="009B8A"/>
                </a:solidFill>
                <a:latin typeface="Aptos"/>
              </a:defRPr>
            </a:pPr>
            <a:r>
              <a:t>4. Explainable AI &amp; Feature Attribution</a:t>
            </a:r>
          </a:p>
          <a:p>
            <a:pPr>
              <a:defRPr sz="950">
                <a:solidFill>
                  <a:srgbClr val="526579"/>
                </a:solidFill>
                <a:latin typeface="Inter"/>
              </a:defRPr>
            </a:pPr>
            <a:r>
              <a:t>Lundberg, S. M., et al. (2020). From local explanations to global understanding with explainable AI for trees. Nature Machine Intelligence, 2(1), 56-67.</a:t>
            </a:r>
            <a:br/>
          </a:p>
          <a:p>
            <a:pPr>
              <a:defRPr sz="1100" b="1">
                <a:solidFill>
                  <a:srgbClr val="009B8A"/>
                </a:solidFill>
                <a:latin typeface="Aptos"/>
              </a:defRPr>
            </a:pPr>
            <a:r>
              <a:t>5. Soil Pedology Database</a:t>
            </a:r>
          </a:p>
          <a:p>
            <a:pPr>
              <a:defRPr sz="950">
                <a:solidFill>
                  <a:srgbClr val="526579"/>
                </a:solidFill>
                <a:latin typeface="Inter"/>
              </a:defRPr>
            </a:pPr>
            <a:r>
              <a:t>ISRIC — World Soil Information (2021). SoilGrids 250m 2.0: Global gridded soil information. Available at: https://soilgrids.org</a:t>
            </a:r>
            <a:br/>
          </a:p>
          <a:p>
            <a:pPr>
              <a:defRPr sz="1100" b="1">
                <a:solidFill>
                  <a:srgbClr val="009B8A"/>
                </a:solidFill>
                <a:latin typeface="Aptos"/>
              </a:defRPr>
            </a:pPr>
            <a:r>
              <a:t>6. Meteorological Reanalysis &amp; Forecasts</a:t>
            </a:r>
          </a:p>
          <a:p>
            <a:pPr>
              <a:defRPr sz="950">
                <a:solidFill>
                  <a:srgbClr val="526579"/>
                </a:solidFill>
                <a:latin typeface="Inter"/>
              </a:defRPr>
            </a:pPr>
            <a:r>
              <a:t>Zippenfenig, P. (2023). Open-Meteo.com Weather API. Available at: https://open-meteo.com</a:t>
            </a:r>
            <a:br/>
          </a:p>
          <a:p>
            <a:pPr>
              <a:defRPr sz="1100" b="1">
                <a:solidFill>
                  <a:srgbClr val="009B8A"/>
                </a:solidFill>
                <a:latin typeface="Aptos"/>
              </a:defRPr>
            </a:pPr>
            <a:r>
              <a:t>7. Academic Course Repository</a:t>
            </a:r>
          </a:p>
          <a:p>
            <a:pPr>
              <a:defRPr sz="950">
                <a:solidFill>
                  <a:srgbClr val="526579"/>
                </a:solidFill>
                <a:latin typeface="Inter"/>
              </a:defRPr>
            </a:pPr>
            <a:r>
              <a:t>GeoAgri-AI — CSE 471 Deep Learning for Computer Vision Project Repository. Available at: https://github.com/harshilsetty/GeoAgri-AI-CSE-471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579"/>
                </a:solidFill>
                <a:latin typeface="Inter"/>
              </a:defRPr>
            </a:pPr>
            <a:r>
              <a:t>GeoAgri-AI Research &amp; Viva Presentation  |  Continuous Assessment (CA) Project  | 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